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337" r:id="rId2"/>
    <p:sldId id="268" r:id="rId3"/>
    <p:sldId id="340" r:id="rId4"/>
    <p:sldId id="339" r:id="rId5"/>
    <p:sldId id="341" r:id="rId6"/>
    <p:sldId id="338" r:id="rId7"/>
    <p:sldId id="344" r:id="rId8"/>
    <p:sldId id="342" r:id="rId9"/>
    <p:sldId id="343" r:id="rId10"/>
  </p:sldIdLst>
  <p:sldSz cx="12192000" cy="6858000"/>
  <p:notesSz cx="6858000" cy="9144000"/>
  <p:custDataLst>
    <p:tags r:id="rId1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595959"/>
    <a:srgbClr val="FF94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3" autoAdjust="0"/>
    <p:restoredTop sz="94660"/>
  </p:normalViewPr>
  <p:slideViewPr>
    <p:cSldViewPr snapToGrid="0">
      <p:cViewPr varScale="1">
        <p:scale>
          <a:sx n="98" d="100"/>
          <a:sy n="98" d="100"/>
        </p:scale>
        <p:origin x="272" y="60"/>
      </p:cViewPr>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13BBE5-0BEA-4494-9BEF-C8C2F48C9E2D}" type="datetimeFigureOut">
              <a:rPr lang="zh-CN" altLang="en-US" smtClean="0"/>
              <a:t>2025/9/29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CB8912-F0BA-4AD8-8415-DA1F26BCB09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159BB06-7EE2-456A-B3F0-372892F1843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3</a:t>
            </a:fld>
            <a:endParaRPr lang="zh-CN" altLang="en-US"/>
          </a:p>
        </p:txBody>
      </p:sp>
    </p:spTree>
    <p:extLst>
      <p:ext uri="{BB962C8B-B14F-4D97-AF65-F5344CB8AC3E}">
        <p14:creationId xmlns:p14="http://schemas.microsoft.com/office/powerpoint/2010/main" val="1613470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4</a:t>
            </a:fld>
            <a:endParaRPr lang="zh-CN" altLang="en-US"/>
          </a:p>
        </p:txBody>
      </p:sp>
    </p:spTree>
    <p:extLst>
      <p:ext uri="{BB962C8B-B14F-4D97-AF65-F5344CB8AC3E}">
        <p14:creationId xmlns:p14="http://schemas.microsoft.com/office/powerpoint/2010/main" val="4003028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400" advClick="0" advTm="4000">
        <p:blinds/>
      </p:transition>
    </mc:Choice>
    <mc:Fallback xmlns="">
      <p:transition spd="slow" advClick="0" advTm="4000">
        <p:blind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400" advClick="0" advTm="4000">
        <p:blinds/>
      </p:transition>
    </mc:Choice>
    <mc:Fallback xmlns="">
      <p:transition spd="slow" advClick="0" advTm="4000">
        <p:blind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400" advClick="0" advTm="4000">
        <p:blinds/>
      </p:transition>
    </mc:Choice>
    <mc:Fallback xmlns="">
      <p:transition spd="slow" advClick="0" advTm="4000">
        <p:blind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400" advClick="0" advTm="4000">
        <p:blinds/>
      </p:transition>
    </mc:Choice>
    <mc:Fallback xmlns="">
      <p:transition spd="slow" advClick="0" advTm="4000">
        <p:blind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2_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slow" p14:dur="1400" advClick="0" advTm="4000">
        <p:blinds/>
      </p:transition>
    </mc:Choice>
    <mc:Fallback xmlns="">
      <p:transition spd="slow" advClick="0" advTm="4000">
        <p:blind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400" advClick="0" advTm="4000">
        <p:blinds/>
      </p:transition>
    </mc:Choice>
    <mc:Fallback xmlns="">
      <p:transition spd="slow" advClick="0" advTm="4000">
        <p:blind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5" name="图片占位符 4"/>
          <p:cNvSpPr>
            <a:spLocks noGrp="1"/>
          </p:cNvSpPr>
          <p:nvPr>
            <p:ph type="pic" sz="quarter" idx="10"/>
          </p:nvPr>
        </p:nvSpPr>
        <p:spPr>
          <a:xfrm>
            <a:off x="1115162" y="1520155"/>
            <a:ext cx="9961676" cy="2481943"/>
          </a:xfrm>
          <a:custGeom>
            <a:avLst/>
            <a:gdLst>
              <a:gd name="connsiteX0" fmla="*/ 0 w 9961676"/>
              <a:gd name="connsiteY0" fmla="*/ 0 h 2481943"/>
              <a:gd name="connsiteX1" fmla="*/ 9961676 w 9961676"/>
              <a:gd name="connsiteY1" fmla="*/ 0 h 2481943"/>
              <a:gd name="connsiteX2" fmla="*/ 9961676 w 9961676"/>
              <a:gd name="connsiteY2" fmla="*/ 2481943 h 2481943"/>
              <a:gd name="connsiteX3" fmla="*/ 0 w 9961676"/>
              <a:gd name="connsiteY3" fmla="*/ 2481943 h 2481943"/>
            </a:gdLst>
            <a:ahLst/>
            <a:cxnLst>
              <a:cxn ang="0">
                <a:pos x="connsiteX0" y="connsiteY0"/>
              </a:cxn>
              <a:cxn ang="0">
                <a:pos x="connsiteX1" y="connsiteY1"/>
              </a:cxn>
              <a:cxn ang="0">
                <a:pos x="connsiteX2" y="connsiteY2"/>
              </a:cxn>
              <a:cxn ang="0">
                <a:pos x="connsiteX3" y="connsiteY3"/>
              </a:cxn>
            </a:cxnLst>
            <a:rect l="l" t="t" r="r" b="b"/>
            <a:pathLst>
              <a:path w="9961676" h="2481943">
                <a:moveTo>
                  <a:pt x="0" y="0"/>
                </a:moveTo>
                <a:lnTo>
                  <a:pt x="9961676" y="0"/>
                </a:lnTo>
                <a:lnTo>
                  <a:pt x="9961676" y="2481943"/>
                </a:lnTo>
                <a:lnTo>
                  <a:pt x="0" y="2481943"/>
                </a:ln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advClick="0" advTm="4000">
        <p:blinds/>
      </p:transition>
    </mc:Choice>
    <mc:Fallback xmlns="">
      <p:transition spd="slow" advClick="0" advTm="4000">
        <p:blind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Up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22D6B0C6-B4C1-4FC6-BFD5-C6D2D04F63BD}" type="datetimeFigureOut">
              <a:rPr lang="zh-CN" altLang="en-US" smtClean="0"/>
              <a:t>2025/9/29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A6CB786-46D9-4309-B80A-03D684D1554E}" type="slidenum">
              <a:rPr lang="zh-CN" altLang="en-US" smtClean="0"/>
              <a:t>‹#›</a:t>
            </a:fld>
            <a:endParaRPr lang="zh-CN" altLang="en-US"/>
          </a:p>
        </p:txBody>
      </p:sp>
      <p:sp>
        <p:nvSpPr>
          <p:cNvPr id="10" name="矩形 9"/>
          <p:cNvSpPr/>
          <p:nvPr userDrawn="1"/>
        </p:nvSpPr>
        <p:spPr>
          <a:xfrm>
            <a:off x="0" y="0"/>
            <a:ext cx="6096000" cy="3429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6096000" y="0"/>
            <a:ext cx="6096000" cy="3429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0" y="3429000"/>
            <a:ext cx="6096000" cy="3429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a:off x="6096000" y="3429000"/>
            <a:ext cx="6096000" cy="3429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183382" y="152610"/>
            <a:ext cx="11825236" cy="6552781"/>
          </a:xfrm>
          <a:prstGeom prst="rect">
            <a:avLst/>
          </a:prstGeom>
          <a:pattFill prst="ltHorz">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mc:AlternateContent xmlns:mc="http://schemas.openxmlformats.org/markup-compatibility/2006" xmlns:p14="http://schemas.microsoft.com/office/powerpoint/2010/main">
    <mc:Choice Requires="p14">
      <p:transition spd="slow" p14:dur="1400" advClick="0" advTm="4000">
        <p:blinds/>
      </p:transition>
    </mc:Choice>
    <mc:Fallback xmlns="">
      <p:transition spd="slow" advClick="0" advTm="4000">
        <p:blinds/>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32"/>
          <p:cNvSpPr txBox="1"/>
          <p:nvPr/>
        </p:nvSpPr>
        <p:spPr>
          <a:xfrm>
            <a:off x="1339850" y="2237740"/>
            <a:ext cx="9283065" cy="923330"/>
          </a:xfrm>
          <a:prstGeom prst="rect">
            <a:avLst/>
          </a:prstGeom>
          <a:noFill/>
        </p:spPr>
        <p:txBody>
          <a:bodyPr vert="horz" wrap="square" rtlCol="0">
            <a:spAutoFit/>
          </a:bodyPr>
          <a:lstStyle/>
          <a:p>
            <a:pPr algn="ctr"/>
            <a:r>
              <a:rPr lang="zh-TW" altLang="en-US" sz="5400" b="1" spc="300" dirty="0">
                <a:solidFill>
                  <a:schemeClr val="tx1">
                    <a:lumMod val="75000"/>
                    <a:lumOff val="25000"/>
                  </a:schemeClr>
                </a:solidFill>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rPr>
              <a:t>進度報告</a:t>
            </a:r>
            <a:endParaRPr lang="zh-CN" altLang="en-US" sz="5400" b="1" spc="300" dirty="0">
              <a:solidFill>
                <a:schemeClr val="tx1">
                  <a:lumMod val="75000"/>
                  <a:lumOff val="25000"/>
                </a:schemeClr>
              </a:solidFill>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grpSp>
        <p:nvGrpSpPr>
          <p:cNvPr id="17" name="组合 16"/>
          <p:cNvGrpSpPr/>
          <p:nvPr/>
        </p:nvGrpSpPr>
        <p:grpSpPr>
          <a:xfrm>
            <a:off x="5365750" y="6181144"/>
            <a:ext cx="1460500" cy="118334"/>
            <a:chOff x="5365750" y="989135"/>
            <a:chExt cx="1460500" cy="118334"/>
          </a:xfrm>
        </p:grpSpPr>
        <p:sp>
          <p:nvSpPr>
            <p:cNvPr id="18" name="椭圆 17"/>
            <p:cNvSpPr/>
            <p:nvPr/>
          </p:nvSpPr>
          <p:spPr>
            <a:xfrm>
              <a:off x="5813138" y="989135"/>
              <a:ext cx="118335" cy="118334"/>
            </a:xfrm>
            <a:prstGeom prst="ellipse">
              <a:avLst/>
            </a:prstGeom>
            <a:solidFill>
              <a:schemeClr val="tx1">
                <a:lumMod val="75000"/>
                <a:lumOff val="2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sp>
          <p:nvSpPr>
            <p:cNvPr id="19" name="椭圆 18"/>
            <p:cNvSpPr/>
            <p:nvPr/>
          </p:nvSpPr>
          <p:spPr>
            <a:xfrm>
              <a:off x="6036832" y="989135"/>
              <a:ext cx="118335" cy="118334"/>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sp>
          <p:nvSpPr>
            <p:cNvPr id="20" name="椭圆 19"/>
            <p:cNvSpPr/>
            <p:nvPr/>
          </p:nvSpPr>
          <p:spPr>
            <a:xfrm>
              <a:off x="6260526" y="989135"/>
              <a:ext cx="118335" cy="118334"/>
            </a:xfrm>
            <a:prstGeom prst="ellipse">
              <a:avLst/>
            </a:prstGeom>
            <a:solidFill>
              <a:schemeClr val="tx1">
                <a:lumMod val="75000"/>
                <a:lumOff val="2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sp>
          <p:nvSpPr>
            <p:cNvPr id="21" name="椭圆 20"/>
            <p:cNvSpPr/>
            <p:nvPr/>
          </p:nvSpPr>
          <p:spPr>
            <a:xfrm>
              <a:off x="6484220" y="989135"/>
              <a:ext cx="118335" cy="118334"/>
            </a:xfrm>
            <a:prstGeom prst="ellipse">
              <a:avLst/>
            </a:prstGeom>
            <a:solidFill>
              <a:schemeClr val="tx1">
                <a:lumMod val="65000"/>
                <a:lumOff val="3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sp>
          <p:nvSpPr>
            <p:cNvPr id="23" name="椭圆 22"/>
            <p:cNvSpPr/>
            <p:nvPr/>
          </p:nvSpPr>
          <p:spPr>
            <a:xfrm>
              <a:off x="6707915" y="989135"/>
              <a:ext cx="118335" cy="118334"/>
            </a:xfrm>
            <a:prstGeom prst="ellipse">
              <a:avLst/>
            </a:prstGeom>
            <a:solidFill>
              <a:schemeClr val="bg1">
                <a:lumMod val="6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sp>
          <p:nvSpPr>
            <p:cNvPr id="24" name="椭圆 23"/>
            <p:cNvSpPr/>
            <p:nvPr/>
          </p:nvSpPr>
          <p:spPr>
            <a:xfrm>
              <a:off x="5365750" y="989135"/>
              <a:ext cx="118335" cy="118334"/>
            </a:xfrm>
            <a:prstGeom prst="ellipse">
              <a:avLst/>
            </a:prstGeom>
            <a:solidFill>
              <a:schemeClr val="bg1">
                <a:lumMod val="6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sp>
          <p:nvSpPr>
            <p:cNvPr id="35" name="椭圆 34"/>
            <p:cNvSpPr/>
            <p:nvPr/>
          </p:nvSpPr>
          <p:spPr>
            <a:xfrm>
              <a:off x="5589444" y="989135"/>
              <a:ext cx="118335" cy="118334"/>
            </a:xfrm>
            <a:prstGeom prst="ellipse">
              <a:avLst/>
            </a:prstGeom>
            <a:solidFill>
              <a:schemeClr val="tx1">
                <a:lumMod val="65000"/>
                <a:lumOff val="3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grpSp>
      <p:sp>
        <p:nvSpPr>
          <p:cNvPr id="25" name="矩形 259"/>
          <p:cNvSpPr>
            <a:spLocks noChangeArrowheads="1"/>
          </p:cNvSpPr>
          <p:nvPr/>
        </p:nvSpPr>
        <p:spPr bwMode="auto">
          <a:xfrm>
            <a:off x="4308730" y="3696931"/>
            <a:ext cx="3245485" cy="665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9pPr>
          </a:lstStyle>
          <a:p>
            <a:pPr algn="ctr" defTabSz="914400">
              <a:spcBef>
                <a:spcPts val="0"/>
              </a:spcBef>
              <a:buNone/>
              <a:defRPr/>
            </a:pPr>
            <a:r>
              <a:rPr lang="zh-TW" altLang="en-US" sz="1600" dirty="0">
                <a:latin typeface="Montserrat SemiBold" panose="00000700000000000000" charset="0"/>
                <a:ea typeface="+mn-ea"/>
                <a:cs typeface="Montserrat SemiBold" panose="00000700000000000000" charset="0"/>
                <a:sym typeface="+mn-lt"/>
              </a:rPr>
              <a:t>學生</a:t>
            </a:r>
            <a:r>
              <a:rPr lang="en-US" altLang="zh-TW" sz="1600" dirty="0">
                <a:latin typeface="Montserrat SemiBold" panose="00000700000000000000" charset="0"/>
                <a:ea typeface="+mn-ea"/>
                <a:cs typeface="Montserrat SemiBold" panose="00000700000000000000" charset="0"/>
                <a:sym typeface="+mn-lt"/>
              </a:rPr>
              <a:t>:</a:t>
            </a:r>
            <a:r>
              <a:rPr lang="zh-TW" altLang="en-US" sz="1600" dirty="0">
                <a:latin typeface="Montserrat SemiBold" panose="00000700000000000000" charset="0"/>
                <a:ea typeface="+mn-ea"/>
                <a:cs typeface="Montserrat SemiBold" panose="00000700000000000000" charset="0"/>
                <a:sym typeface="+mn-lt"/>
              </a:rPr>
              <a:t> 戴良育</a:t>
            </a:r>
            <a:endParaRPr lang="en-US" altLang="zh-TW" sz="1600" dirty="0">
              <a:latin typeface="Montserrat SemiBold" panose="00000700000000000000" charset="0"/>
              <a:ea typeface="+mn-ea"/>
              <a:cs typeface="Montserrat SemiBold" panose="00000700000000000000" charset="0"/>
              <a:sym typeface="+mn-lt"/>
            </a:endParaRPr>
          </a:p>
          <a:p>
            <a:pPr algn="ctr" defTabSz="914400">
              <a:lnSpc>
                <a:spcPct val="150000"/>
              </a:lnSpc>
              <a:spcBef>
                <a:spcPts val="0"/>
              </a:spcBef>
              <a:buNone/>
              <a:defRPr/>
            </a:pPr>
            <a:r>
              <a:rPr lang="zh-TW" altLang="en-US" sz="1600" dirty="0">
                <a:latin typeface="Montserrat SemiBold" panose="00000700000000000000" charset="0"/>
                <a:ea typeface="+mn-ea"/>
                <a:cs typeface="Montserrat SemiBold" panose="00000700000000000000" charset="0"/>
                <a:sym typeface="+mn-lt"/>
              </a:rPr>
              <a:t>指導教授</a:t>
            </a:r>
            <a:r>
              <a:rPr lang="en-US" altLang="zh-TW" sz="1600" dirty="0">
                <a:latin typeface="Montserrat SemiBold" panose="00000700000000000000" charset="0"/>
                <a:ea typeface="+mn-ea"/>
                <a:cs typeface="Montserrat SemiBold" panose="00000700000000000000" charset="0"/>
                <a:sym typeface="+mn-lt"/>
              </a:rPr>
              <a:t>:</a:t>
            </a:r>
            <a:r>
              <a:rPr lang="zh-TW" altLang="en-US" sz="1600" dirty="0">
                <a:latin typeface="Montserrat SemiBold" panose="00000700000000000000" charset="0"/>
                <a:ea typeface="+mn-ea"/>
                <a:cs typeface="Montserrat SemiBold" panose="00000700000000000000" charset="0"/>
                <a:sym typeface="+mn-lt"/>
              </a:rPr>
              <a:t> 謝君偉</a:t>
            </a:r>
            <a:endParaRPr sz="1600" dirty="0">
              <a:latin typeface="Montserrat SemiBold" panose="00000700000000000000" charset="0"/>
              <a:ea typeface="+mn-ea"/>
              <a:cs typeface="Montserrat SemiBold" panose="00000700000000000000" charset="0"/>
              <a:sym typeface="+mn-lt"/>
            </a:endParaRPr>
          </a:p>
        </p:txBody>
      </p:sp>
      <p:sp>
        <p:nvSpPr>
          <p:cNvPr id="2" name="文字方塊 1">
            <a:extLst>
              <a:ext uri="{FF2B5EF4-FFF2-40B4-BE49-F238E27FC236}">
                <a16:creationId xmlns:a16="http://schemas.microsoft.com/office/drawing/2014/main" id="{5F3DE1F6-D855-4548-810E-C442D52EC786}"/>
              </a:ext>
            </a:extLst>
          </p:cNvPr>
          <p:cNvSpPr txBox="1"/>
          <p:nvPr/>
        </p:nvSpPr>
        <p:spPr>
          <a:xfrm>
            <a:off x="4465135" y="3161069"/>
            <a:ext cx="3032493" cy="338554"/>
          </a:xfrm>
          <a:prstGeom prst="rect">
            <a:avLst/>
          </a:prstGeom>
          <a:noFill/>
        </p:spPr>
        <p:txBody>
          <a:bodyPr wrap="square" rtlCol="0">
            <a:spAutoFit/>
          </a:bodyPr>
          <a:lstStyle/>
          <a:p>
            <a:pPr algn="ctr"/>
            <a:r>
              <a:rPr lang="en-US" altLang="zh-TW" sz="1600"/>
              <a:t>2025/09/29</a:t>
            </a:r>
            <a:endParaRPr lang="zh-TW" altLang="en-US" sz="1600" dirty="0"/>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16255" y="473710"/>
            <a:ext cx="402590" cy="4025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sp>
        <p:nvSpPr>
          <p:cNvPr id="6" name="文本框 5"/>
          <p:cNvSpPr txBox="1"/>
          <p:nvPr/>
        </p:nvSpPr>
        <p:spPr>
          <a:xfrm>
            <a:off x="992987" y="414020"/>
            <a:ext cx="1866945" cy="523220"/>
          </a:xfrm>
          <a:prstGeom prst="rect">
            <a:avLst/>
          </a:prstGeom>
          <a:noFill/>
        </p:spPr>
        <p:txBody>
          <a:bodyPr wrap="square" rtlCol="0">
            <a:spAutoFit/>
          </a:bodyPr>
          <a:lstStyle/>
          <a:p>
            <a:pPr lvl="0"/>
            <a:r>
              <a:rPr kumimoji="0" lang="zh-TW" altLang="en-US" sz="2800" b="1" i="0" u="none" strike="noStrike" kern="0" cap="none" spc="0" normalizeH="0" baseline="0" noProof="0" dirty="0">
                <a:ln>
                  <a:noFill/>
                </a:ln>
                <a:solidFill>
                  <a:srgbClr val="595959"/>
                </a:solidFill>
                <a:effectLst/>
                <a:uLnTx/>
                <a:uFillTx/>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rPr>
              <a:t>模型復刻</a:t>
            </a:r>
            <a:endParaRPr kumimoji="0" lang="zh-CN" altLang="en-US" sz="2800" b="1" i="0" u="none" strike="noStrike" kern="0" cap="none" spc="0" normalizeH="0" baseline="0" noProof="0" dirty="0">
              <a:ln>
                <a:noFill/>
              </a:ln>
              <a:solidFill>
                <a:srgbClr val="595959"/>
              </a:solidFill>
              <a:effectLst/>
              <a:uLnTx/>
              <a:uFillTx/>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sp>
        <p:nvSpPr>
          <p:cNvPr id="2" name="文字方塊 1">
            <a:extLst>
              <a:ext uri="{FF2B5EF4-FFF2-40B4-BE49-F238E27FC236}">
                <a16:creationId xmlns:a16="http://schemas.microsoft.com/office/drawing/2014/main" id="{EEA3A845-9782-4179-9A10-811BAC5721DB}"/>
              </a:ext>
            </a:extLst>
          </p:cNvPr>
          <p:cNvSpPr txBox="1"/>
          <p:nvPr/>
        </p:nvSpPr>
        <p:spPr>
          <a:xfrm>
            <a:off x="1170944" y="1763946"/>
            <a:ext cx="9850111" cy="3323987"/>
          </a:xfrm>
          <a:prstGeom prst="rect">
            <a:avLst/>
          </a:prstGeom>
          <a:noFill/>
        </p:spPr>
        <p:txBody>
          <a:bodyPr wrap="square" rtlCol="0">
            <a:spAutoFit/>
          </a:bodyPr>
          <a:lstStyle/>
          <a:p>
            <a:endParaRPr lang="en-US" altLang="zh-TW" dirty="0"/>
          </a:p>
          <a:p>
            <a:endParaRPr lang="en-US" altLang="zh-TW" dirty="0"/>
          </a:p>
          <a:p>
            <a:pPr algn="ctr"/>
            <a:r>
              <a:rPr lang="en-US" altLang="zh-TW" sz="2800" b="0" i="0" dirty="0">
                <a:solidFill>
                  <a:srgbClr val="222222"/>
                </a:solidFill>
                <a:effectLst/>
                <a:latin typeface="??"/>
              </a:rPr>
              <a:t>Spectroformer: Multi-Domain Query Cascaded Transformer Network For Underwater Image Enhancement</a:t>
            </a:r>
          </a:p>
          <a:p>
            <a:endParaRPr lang="en-US" altLang="zh-TW" sz="2000" b="0" i="0" dirty="0">
              <a:solidFill>
                <a:srgbClr val="222222"/>
              </a:solidFill>
              <a:effectLst/>
              <a:latin typeface="??"/>
            </a:endParaRPr>
          </a:p>
          <a:p>
            <a:pPr algn="ctr"/>
            <a:r>
              <a:rPr lang="en-US" altLang="zh-TW" sz="1100" dirty="0"/>
              <a:t>MD Raqib Khan1, Priyanka Mishra2, Nancy Mehta3, Shruti S. Phutke4 Santosh Kumar Vipparthi2, Sukumar Nandi5, Subrahmanyam Murala1 1CVPR Lab, School of Computer Science and Statistics, Trinity College Dublin, Ireland 2CVPR Lab, Indian Institute of Technology Ropar, India 3Computer Vision Lab, CAIDAS, IFI, University of Wurzburg, Germany ¨ 4Institute for Integrated and Intelligent Systems, Griffith Univeristy, Australia 5Indian Institute of Technology Guwahati, India khanmd@tcd.ie</a:t>
            </a:r>
            <a:endParaRPr lang="en-US" altLang="zh-TW" sz="1100" b="0" i="0" dirty="0">
              <a:solidFill>
                <a:srgbClr val="222222"/>
              </a:solidFill>
              <a:effectLst/>
              <a:latin typeface="??"/>
            </a:endParaRPr>
          </a:p>
          <a:p>
            <a:endParaRPr lang="en-US" altLang="zh-TW" dirty="0">
              <a:solidFill>
                <a:srgbClr val="222222"/>
              </a:solidFill>
              <a:latin typeface="??"/>
            </a:endParaRPr>
          </a:p>
          <a:p>
            <a:endParaRPr lang="en-US" altLang="zh-TW" dirty="0">
              <a:solidFill>
                <a:srgbClr val="222222"/>
              </a:solidFill>
              <a:latin typeface="??"/>
            </a:endParaRPr>
          </a:p>
          <a:p>
            <a:endParaRPr lang="en-US" altLang="zh-TW" dirty="0">
              <a:solidFill>
                <a:srgbClr val="222222"/>
              </a:solidFill>
              <a:latin typeface="??"/>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16255" y="473710"/>
            <a:ext cx="402590" cy="4025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sp>
        <p:nvSpPr>
          <p:cNvPr id="6" name="文本框 5"/>
          <p:cNvSpPr txBox="1"/>
          <p:nvPr/>
        </p:nvSpPr>
        <p:spPr>
          <a:xfrm>
            <a:off x="992987" y="414020"/>
            <a:ext cx="1866945" cy="523220"/>
          </a:xfrm>
          <a:prstGeom prst="rect">
            <a:avLst/>
          </a:prstGeom>
          <a:noFill/>
        </p:spPr>
        <p:txBody>
          <a:bodyPr wrap="square" rtlCol="0">
            <a:spAutoFit/>
          </a:bodyPr>
          <a:lstStyle/>
          <a:p>
            <a:pPr lvl="0"/>
            <a:r>
              <a:rPr kumimoji="0" lang="zh-TW" altLang="en-US" sz="2800" b="1" i="0" u="none" strike="noStrike" kern="0" cap="none" spc="0" normalizeH="0" baseline="0" noProof="0" dirty="0">
                <a:ln>
                  <a:noFill/>
                </a:ln>
                <a:solidFill>
                  <a:srgbClr val="595959"/>
                </a:solidFill>
                <a:effectLst/>
                <a:uLnTx/>
                <a:uFillTx/>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rPr>
              <a:t>模型</a:t>
            </a:r>
            <a:r>
              <a:rPr lang="zh-TW" altLang="en-US" sz="2800" b="1" kern="0" dirty="0">
                <a:solidFill>
                  <a:srgbClr val="595959"/>
                </a:solidFill>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rPr>
              <a:t>架構</a:t>
            </a:r>
            <a:endParaRPr kumimoji="0" lang="zh-CN" altLang="en-US" sz="2800" b="1" i="0" u="none" strike="noStrike" kern="0" cap="none" spc="0" normalizeH="0" baseline="0" noProof="0" dirty="0">
              <a:ln>
                <a:noFill/>
              </a:ln>
              <a:solidFill>
                <a:srgbClr val="595959"/>
              </a:solidFill>
              <a:effectLst/>
              <a:uLnTx/>
              <a:uFillTx/>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pic>
        <p:nvPicPr>
          <p:cNvPr id="5" name="圖片 4">
            <a:extLst>
              <a:ext uri="{FF2B5EF4-FFF2-40B4-BE49-F238E27FC236}">
                <a16:creationId xmlns:a16="http://schemas.microsoft.com/office/drawing/2014/main" id="{633EB95F-4867-46D2-941E-0D10ED7D93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8845" y="1733704"/>
            <a:ext cx="10265159" cy="4365709"/>
          </a:xfrm>
          <a:prstGeom prst="rect">
            <a:avLst/>
          </a:prstGeom>
        </p:spPr>
      </p:pic>
      <p:sp>
        <p:nvSpPr>
          <p:cNvPr id="7" name="文字方塊 6">
            <a:extLst>
              <a:ext uri="{FF2B5EF4-FFF2-40B4-BE49-F238E27FC236}">
                <a16:creationId xmlns:a16="http://schemas.microsoft.com/office/drawing/2014/main" id="{7A82B14A-240B-4E82-87B7-43018330A107}"/>
              </a:ext>
            </a:extLst>
          </p:cNvPr>
          <p:cNvSpPr txBox="1"/>
          <p:nvPr/>
        </p:nvSpPr>
        <p:spPr>
          <a:xfrm>
            <a:off x="1154349" y="985737"/>
            <a:ext cx="9267217" cy="646331"/>
          </a:xfrm>
          <a:prstGeom prst="rect">
            <a:avLst/>
          </a:prstGeom>
          <a:noFill/>
        </p:spPr>
        <p:txBody>
          <a:bodyPr wrap="square" rtlCol="0">
            <a:spAutoFit/>
          </a:bodyPr>
          <a:lstStyle/>
          <a:p>
            <a:r>
              <a:rPr lang="en-US" altLang="zh-TW" dirty="0"/>
              <a:t>main goal is to combine the insights from both frequency and spatial domains for revealing fine details and patterns in the degraded underwater images.</a:t>
            </a:r>
            <a:endParaRPr lang="zh-TW" altLang="en-US" dirty="0"/>
          </a:p>
        </p:txBody>
      </p:sp>
    </p:spTree>
    <p:extLst>
      <p:ext uri="{BB962C8B-B14F-4D97-AF65-F5344CB8AC3E}">
        <p14:creationId xmlns:p14="http://schemas.microsoft.com/office/powerpoint/2010/main" val="238831721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41D06585-ED33-45A0-8B0D-F30ABA645B4C}"/>
              </a:ext>
            </a:extLst>
          </p:cNvPr>
          <p:cNvPicPr>
            <a:picLocks noChangeAspect="1"/>
          </p:cNvPicPr>
          <p:nvPr/>
        </p:nvPicPr>
        <p:blipFill>
          <a:blip r:embed="rId3"/>
          <a:stretch>
            <a:fillRect/>
          </a:stretch>
        </p:blipFill>
        <p:spPr>
          <a:xfrm>
            <a:off x="8512075" y="675005"/>
            <a:ext cx="2785013" cy="2431984"/>
          </a:xfrm>
          <a:prstGeom prst="rect">
            <a:avLst/>
          </a:prstGeom>
        </p:spPr>
      </p:pic>
      <p:sp>
        <p:nvSpPr>
          <p:cNvPr id="4" name="矩形 3"/>
          <p:cNvSpPr/>
          <p:nvPr/>
        </p:nvSpPr>
        <p:spPr>
          <a:xfrm>
            <a:off x="516255" y="473710"/>
            <a:ext cx="402590" cy="4025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sp>
        <p:nvSpPr>
          <p:cNvPr id="6" name="文本框 5"/>
          <p:cNvSpPr txBox="1"/>
          <p:nvPr/>
        </p:nvSpPr>
        <p:spPr>
          <a:xfrm>
            <a:off x="992987" y="414020"/>
            <a:ext cx="1866945" cy="523220"/>
          </a:xfrm>
          <a:prstGeom prst="rect">
            <a:avLst/>
          </a:prstGeom>
          <a:noFill/>
        </p:spPr>
        <p:txBody>
          <a:bodyPr wrap="square" rtlCol="0">
            <a:spAutoFit/>
          </a:bodyPr>
          <a:lstStyle/>
          <a:p>
            <a:pPr lvl="0"/>
            <a:r>
              <a:rPr kumimoji="0" lang="zh-TW" altLang="en-US" sz="2800" b="1" i="0" u="none" strike="noStrike" kern="0" cap="none" spc="0" normalizeH="0" baseline="0" noProof="0" dirty="0">
                <a:ln>
                  <a:noFill/>
                </a:ln>
                <a:solidFill>
                  <a:srgbClr val="595959"/>
                </a:solidFill>
                <a:effectLst/>
                <a:uLnTx/>
                <a:uFillTx/>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rPr>
              <a:t>模型架構</a:t>
            </a:r>
            <a:endParaRPr kumimoji="0" lang="zh-CN" altLang="en-US" sz="2800" b="1" i="0" u="none" strike="noStrike" kern="0" cap="none" spc="0" normalizeH="0" baseline="0" noProof="0" dirty="0">
              <a:ln>
                <a:noFill/>
              </a:ln>
              <a:solidFill>
                <a:srgbClr val="595959"/>
              </a:solidFill>
              <a:effectLst/>
              <a:uLnTx/>
              <a:uFillTx/>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pic>
        <p:nvPicPr>
          <p:cNvPr id="10" name="圖片 9">
            <a:extLst>
              <a:ext uri="{FF2B5EF4-FFF2-40B4-BE49-F238E27FC236}">
                <a16:creationId xmlns:a16="http://schemas.microsoft.com/office/drawing/2014/main" id="{A8457D00-B90D-4821-A4A6-80EE313A5A72}"/>
              </a:ext>
            </a:extLst>
          </p:cNvPr>
          <p:cNvPicPr>
            <a:picLocks noChangeAspect="1"/>
          </p:cNvPicPr>
          <p:nvPr/>
        </p:nvPicPr>
        <p:blipFill>
          <a:blip r:embed="rId4"/>
          <a:stretch>
            <a:fillRect/>
          </a:stretch>
        </p:blipFill>
        <p:spPr>
          <a:xfrm>
            <a:off x="760804" y="1238656"/>
            <a:ext cx="10536284" cy="4852938"/>
          </a:xfrm>
          <a:prstGeom prst="rect">
            <a:avLst/>
          </a:prstGeom>
        </p:spPr>
      </p:pic>
      <p:pic>
        <p:nvPicPr>
          <p:cNvPr id="20" name="圖片 19">
            <a:extLst>
              <a:ext uri="{FF2B5EF4-FFF2-40B4-BE49-F238E27FC236}">
                <a16:creationId xmlns:a16="http://schemas.microsoft.com/office/drawing/2014/main" id="{829FB3FA-AADF-4245-A1E0-EB31ED57E1A9}"/>
              </a:ext>
            </a:extLst>
          </p:cNvPr>
          <p:cNvPicPr>
            <a:picLocks noChangeAspect="1"/>
          </p:cNvPicPr>
          <p:nvPr/>
        </p:nvPicPr>
        <p:blipFill>
          <a:blip r:embed="rId5"/>
          <a:stretch>
            <a:fillRect/>
          </a:stretch>
        </p:blipFill>
        <p:spPr>
          <a:xfrm>
            <a:off x="2684836" y="1846330"/>
            <a:ext cx="1402708" cy="402050"/>
          </a:xfrm>
          <a:prstGeom prst="rect">
            <a:avLst/>
          </a:prstGeom>
        </p:spPr>
      </p:pic>
    </p:spTree>
    <p:extLst>
      <p:ext uri="{BB962C8B-B14F-4D97-AF65-F5344CB8AC3E}">
        <p14:creationId xmlns:p14="http://schemas.microsoft.com/office/powerpoint/2010/main" val="293179964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E2D538-CA28-4CD3-B1A2-1C7130FF8637}"/>
              </a:ext>
            </a:extLst>
          </p:cNvPr>
          <p:cNvSpPr/>
          <p:nvPr/>
        </p:nvSpPr>
        <p:spPr>
          <a:xfrm>
            <a:off x="516255" y="473710"/>
            <a:ext cx="402590" cy="4025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sp>
        <p:nvSpPr>
          <p:cNvPr id="3" name="文本框 5">
            <a:extLst>
              <a:ext uri="{FF2B5EF4-FFF2-40B4-BE49-F238E27FC236}">
                <a16:creationId xmlns:a16="http://schemas.microsoft.com/office/drawing/2014/main" id="{9E4E1293-80B6-4044-9F36-92DD5A43CF0F}"/>
              </a:ext>
            </a:extLst>
          </p:cNvPr>
          <p:cNvSpPr txBox="1"/>
          <p:nvPr/>
        </p:nvSpPr>
        <p:spPr>
          <a:xfrm>
            <a:off x="992987" y="414020"/>
            <a:ext cx="1866945" cy="523220"/>
          </a:xfrm>
          <a:prstGeom prst="rect">
            <a:avLst/>
          </a:prstGeom>
          <a:noFill/>
        </p:spPr>
        <p:txBody>
          <a:bodyPr wrap="square" rtlCol="0">
            <a:spAutoFit/>
          </a:bodyPr>
          <a:lstStyle/>
          <a:p>
            <a:pPr lvl="0"/>
            <a:r>
              <a:rPr lang="zh-TW" altLang="en-US" sz="2800" b="1" kern="0" dirty="0">
                <a:solidFill>
                  <a:srgbClr val="595959"/>
                </a:solidFill>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rPr>
              <a:t>目前進度</a:t>
            </a:r>
            <a:endParaRPr kumimoji="0" lang="zh-CN" altLang="en-US" sz="2800" b="1" i="0" u="none" strike="noStrike" kern="0" cap="none" spc="0" normalizeH="0" baseline="0" noProof="0" dirty="0">
              <a:ln>
                <a:noFill/>
              </a:ln>
              <a:solidFill>
                <a:srgbClr val="595959"/>
              </a:solidFill>
              <a:effectLst/>
              <a:uLnTx/>
              <a:uFillTx/>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sp>
        <p:nvSpPr>
          <p:cNvPr id="10" name="文字方塊 9">
            <a:extLst>
              <a:ext uri="{FF2B5EF4-FFF2-40B4-BE49-F238E27FC236}">
                <a16:creationId xmlns:a16="http://schemas.microsoft.com/office/drawing/2014/main" id="{58197985-2D8B-4A42-9368-F770BA5CA91B}"/>
              </a:ext>
            </a:extLst>
          </p:cNvPr>
          <p:cNvSpPr txBox="1"/>
          <p:nvPr/>
        </p:nvSpPr>
        <p:spPr>
          <a:xfrm>
            <a:off x="1084946" y="1550503"/>
            <a:ext cx="1683026" cy="369332"/>
          </a:xfrm>
          <a:prstGeom prst="rect">
            <a:avLst/>
          </a:prstGeom>
          <a:noFill/>
        </p:spPr>
        <p:txBody>
          <a:bodyPr wrap="square" rtlCol="0">
            <a:spAutoFit/>
          </a:bodyPr>
          <a:lstStyle/>
          <a:p>
            <a:r>
              <a:rPr lang="en-US" altLang="zh-TW" dirty="0"/>
              <a:t>Batch size : 4</a:t>
            </a:r>
            <a:endParaRPr lang="zh-TW" altLang="en-US" dirty="0"/>
          </a:p>
        </p:txBody>
      </p:sp>
      <p:sp>
        <p:nvSpPr>
          <p:cNvPr id="11" name="文字方塊 10">
            <a:extLst>
              <a:ext uri="{FF2B5EF4-FFF2-40B4-BE49-F238E27FC236}">
                <a16:creationId xmlns:a16="http://schemas.microsoft.com/office/drawing/2014/main" id="{C7D0BCA3-1A6E-461E-A59E-CE523E674103}"/>
              </a:ext>
            </a:extLst>
          </p:cNvPr>
          <p:cNvSpPr txBox="1"/>
          <p:nvPr/>
        </p:nvSpPr>
        <p:spPr>
          <a:xfrm>
            <a:off x="3006976" y="1550503"/>
            <a:ext cx="1683026" cy="369332"/>
          </a:xfrm>
          <a:prstGeom prst="rect">
            <a:avLst/>
          </a:prstGeom>
          <a:noFill/>
        </p:spPr>
        <p:txBody>
          <a:bodyPr wrap="square" rtlCol="0">
            <a:spAutoFit/>
          </a:bodyPr>
          <a:lstStyle/>
          <a:p>
            <a:r>
              <a:rPr lang="en-US" altLang="zh-TW" dirty="0"/>
              <a:t>Epoch : 25</a:t>
            </a:r>
            <a:endParaRPr lang="zh-TW" altLang="en-US" dirty="0"/>
          </a:p>
        </p:txBody>
      </p:sp>
      <p:sp>
        <p:nvSpPr>
          <p:cNvPr id="12" name="文字方塊 11">
            <a:extLst>
              <a:ext uri="{FF2B5EF4-FFF2-40B4-BE49-F238E27FC236}">
                <a16:creationId xmlns:a16="http://schemas.microsoft.com/office/drawing/2014/main" id="{79C69F79-3F70-4222-86ED-0C9E8799D746}"/>
              </a:ext>
            </a:extLst>
          </p:cNvPr>
          <p:cNvSpPr txBox="1"/>
          <p:nvPr/>
        </p:nvSpPr>
        <p:spPr>
          <a:xfrm>
            <a:off x="1084946" y="2587896"/>
            <a:ext cx="1683026" cy="369332"/>
          </a:xfrm>
          <a:prstGeom prst="rect">
            <a:avLst/>
          </a:prstGeom>
          <a:noFill/>
        </p:spPr>
        <p:txBody>
          <a:bodyPr wrap="square" rtlCol="0">
            <a:spAutoFit/>
          </a:bodyPr>
          <a:lstStyle/>
          <a:p>
            <a:r>
              <a:rPr lang="en-US" altLang="zh-TW" dirty="0"/>
              <a:t>PSNR : 21.65</a:t>
            </a:r>
            <a:endParaRPr lang="zh-TW" altLang="en-US" dirty="0"/>
          </a:p>
        </p:txBody>
      </p:sp>
      <p:sp>
        <p:nvSpPr>
          <p:cNvPr id="13" name="文字方塊 12">
            <a:extLst>
              <a:ext uri="{FF2B5EF4-FFF2-40B4-BE49-F238E27FC236}">
                <a16:creationId xmlns:a16="http://schemas.microsoft.com/office/drawing/2014/main" id="{63291B98-F9B6-48FC-A441-6AC70493F1BF}"/>
              </a:ext>
            </a:extLst>
          </p:cNvPr>
          <p:cNvSpPr txBox="1"/>
          <p:nvPr/>
        </p:nvSpPr>
        <p:spPr>
          <a:xfrm>
            <a:off x="3006976" y="2597553"/>
            <a:ext cx="1683026" cy="369332"/>
          </a:xfrm>
          <a:prstGeom prst="rect">
            <a:avLst/>
          </a:prstGeom>
          <a:noFill/>
        </p:spPr>
        <p:txBody>
          <a:bodyPr wrap="square" rtlCol="0">
            <a:spAutoFit/>
          </a:bodyPr>
          <a:lstStyle/>
          <a:p>
            <a:r>
              <a:rPr lang="en-US" altLang="zh-TW" dirty="0"/>
              <a:t>SSIM : 0.7153</a:t>
            </a:r>
            <a:endParaRPr lang="zh-TW" altLang="en-US" dirty="0"/>
          </a:p>
        </p:txBody>
      </p:sp>
      <p:pic>
        <p:nvPicPr>
          <p:cNvPr id="4" name="圖片 3">
            <a:extLst>
              <a:ext uri="{FF2B5EF4-FFF2-40B4-BE49-F238E27FC236}">
                <a16:creationId xmlns:a16="http://schemas.microsoft.com/office/drawing/2014/main" id="{1179A913-FFA1-4BA7-8B3F-97DF28794B8C}"/>
              </a:ext>
            </a:extLst>
          </p:cNvPr>
          <p:cNvPicPr>
            <a:picLocks noChangeAspect="1"/>
          </p:cNvPicPr>
          <p:nvPr/>
        </p:nvPicPr>
        <p:blipFill>
          <a:blip r:embed="rId2"/>
          <a:stretch>
            <a:fillRect/>
          </a:stretch>
        </p:blipFill>
        <p:spPr>
          <a:xfrm>
            <a:off x="6096000" y="1196117"/>
            <a:ext cx="4868658" cy="2018879"/>
          </a:xfrm>
          <a:prstGeom prst="rect">
            <a:avLst/>
          </a:prstGeom>
        </p:spPr>
      </p:pic>
      <p:pic>
        <p:nvPicPr>
          <p:cNvPr id="5" name="圖片 4">
            <a:extLst>
              <a:ext uri="{FF2B5EF4-FFF2-40B4-BE49-F238E27FC236}">
                <a16:creationId xmlns:a16="http://schemas.microsoft.com/office/drawing/2014/main" id="{6355CFB0-BA84-4DEB-88C7-E1A8295C7EB7}"/>
              </a:ext>
            </a:extLst>
          </p:cNvPr>
          <p:cNvPicPr>
            <a:picLocks noChangeAspect="1"/>
          </p:cNvPicPr>
          <p:nvPr/>
        </p:nvPicPr>
        <p:blipFill>
          <a:blip r:embed="rId3"/>
          <a:stretch>
            <a:fillRect/>
          </a:stretch>
        </p:blipFill>
        <p:spPr>
          <a:xfrm>
            <a:off x="1430002" y="4144302"/>
            <a:ext cx="9776298" cy="1041776"/>
          </a:xfrm>
          <a:prstGeom prst="rect">
            <a:avLst/>
          </a:prstGeom>
        </p:spPr>
      </p:pic>
    </p:spTree>
    <p:extLst>
      <p:ext uri="{BB962C8B-B14F-4D97-AF65-F5344CB8AC3E}">
        <p14:creationId xmlns:p14="http://schemas.microsoft.com/office/powerpoint/2010/main" val="38623890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E2D538-CA28-4CD3-B1A2-1C7130FF8637}"/>
              </a:ext>
            </a:extLst>
          </p:cNvPr>
          <p:cNvSpPr/>
          <p:nvPr/>
        </p:nvSpPr>
        <p:spPr>
          <a:xfrm>
            <a:off x="516255" y="473710"/>
            <a:ext cx="402590" cy="4025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sp>
        <p:nvSpPr>
          <p:cNvPr id="3" name="文本框 5">
            <a:extLst>
              <a:ext uri="{FF2B5EF4-FFF2-40B4-BE49-F238E27FC236}">
                <a16:creationId xmlns:a16="http://schemas.microsoft.com/office/drawing/2014/main" id="{9E4E1293-80B6-4044-9F36-92DD5A43CF0F}"/>
              </a:ext>
            </a:extLst>
          </p:cNvPr>
          <p:cNvSpPr txBox="1"/>
          <p:nvPr/>
        </p:nvSpPr>
        <p:spPr>
          <a:xfrm>
            <a:off x="992987" y="414020"/>
            <a:ext cx="1866945" cy="523220"/>
          </a:xfrm>
          <a:prstGeom prst="rect">
            <a:avLst/>
          </a:prstGeom>
          <a:noFill/>
        </p:spPr>
        <p:txBody>
          <a:bodyPr wrap="square" rtlCol="0">
            <a:spAutoFit/>
          </a:bodyPr>
          <a:lstStyle/>
          <a:p>
            <a:pPr lvl="0"/>
            <a:r>
              <a:rPr lang="zh-TW" altLang="en-US" sz="2800" b="1" kern="0" dirty="0">
                <a:solidFill>
                  <a:srgbClr val="595959"/>
                </a:solidFill>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rPr>
              <a:t>目前進度</a:t>
            </a:r>
            <a:endParaRPr kumimoji="0" lang="zh-CN" altLang="en-US" sz="2800" b="1" i="0" u="none" strike="noStrike" kern="0" cap="none" spc="0" normalizeH="0" baseline="0" noProof="0" dirty="0">
              <a:ln>
                <a:noFill/>
              </a:ln>
              <a:solidFill>
                <a:srgbClr val="595959"/>
              </a:solidFill>
              <a:effectLst/>
              <a:uLnTx/>
              <a:uFillTx/>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pic>
        <p:nvPicPr>
          <p:cNvPr id="4" name="圖片 3">
            <a:extLst>
              <a:ext uri="{FF2B5EF4-FFF2-40B4-BE49-F238E27FC236}">
                <a16:creationId xmlns:a16="http://schemas.microsoft.com/office/drawing/2014/main" id="{2531A2ED-9B14-4A88-968B-C302AE110CAB}"/>
              </a:ext>
            </a:extLst>
          </p:cNvPr>
          <p:cNvPicPr>
            <a:picLocks noChangeAspect="1"/>
          </p:cNvPicPr>
          <p:nvPr/>
        </p:nvPicPr>
        <p:blipFill>
          <a:blip r:embed="rId2"/>
          <a:stretch>
            <a:fillRect/>
          </a:stretch>
        </p:blipFill>
        <p:spPr>
          <a:xfrm>
            <a:off x="1102470" y="1191640"/>
            <a:ext cx="4474720" cy="2237360"/>
          </a:xfrm>
          <a:prstGeom prst="rect">
            <a:avLst/>
          </a:prstGeom>
        </p:spPr>
      </p:pic>
      <p:pic>
        <p:nvPicPr>
          <p:cNvPr id="5" name="圖片 4">
            <a:extLst>
              <a:ext uri="{FF2B5EF4-FFF2-40B4-BE49-F238E27FC236}">
                <a16:creationId xmlns:a16="http://schemas.microsoft.com/office/drawing/2014/main" id="{6C406782-B372-425E-AC52-681684BAE37C}"/>
              </a:ext>
            </a:extLst>
          </p:cNvPr>
          <p:cNvPicPr>
            <a:picLocks noChangeAspect="1"/>
          </p:cNvPicPr>
          <p:nvPr/>
        </p:nvPicPr>
        <p:blipFill>
          <a:blip r:embed="rId3"/>
          <a:stretch>
            <a:fillRect/>
          </a:stretch>
        </p:blipFill>
        <p:spPr>
          <a:xfrm>
            <a:off x="6180310" y="1191640"/>
            <a:ext cx="4474720" cy="2237360"/>
          </a:xfrm>
          <a:prstGeom prst="rect">
            <a:avLst/>
          </a:prstGeom>
        </p:spPr>
      </p:pic>
      <p:pic>
        <p:nvPicPr>
          <p:cNvPr id="6" name="圖片 5">
            <a:extLst>
              <a:ext uri="{FF2B5EF4-FFF2-40B4-BE49-F238E27FC236}">
                <a16:creationId xmlns:a16="http://schemas.microsoft.com/office/drawing/2014/main" id="{2CBC2803-0355-4A95-9B67-F5D2E8FDB6D2}"/>
              </a:ext>
            </a:extLst>
          </p:cNvPr>
          <p:cNvPicPr>
            <a:picLocks noChangeAspect="1"/>
          </p:cNvPicPr>
          <p:nvPr/>
        </p:nvPicPr>
        <p:blipFill>
          <a:blip r:embed="rId4"/>
          <a:stretch>
            <a:fillRect/>
          </a:stretch>
        </p:blipFill>
        <p:spPr>
          <a:xfrm>
            <a:off x="1102470" y="3764309"/>
            <a:ext cx="4474718" cy="2237359"/>
          </a:xfrm>
          <a:prstGeom prst="rect">
            <a:avLst/>
          </a:prstGeom>
        </p:spPr>
      </p:pic>
      <p:pic>
        <p:nvPicPr>
          <p:cNvPr id="7" name="圖片 6">
            <a:extLst>
              <a:ext uri="{FF2B5EF4-FFF2-40B4-BE49-F238E27FC236}">
                <a16:creationId xmlns:a16="http://schemas.microsoft.com/office/drawing/2014/main" id="{4846E0A8-084D-492B-9BBC-E6ABC2E013C1}"/>
              </a:ext>
            </a:extLst>
          </p:cNvPr>
          <p:cNvPicPr>
            <a:picLocks noChangeAspect="1"/>
          </p:cNvPicPr>
          <p:nvPr/>
        </p:nvPicPr>
        <p:blipFill>
          <a:blip r:embed="rId5"/>
          <a:stretch>
            <a:fillRect/>
          </a:stretch>
        </p:blipFill>
        <p:spPr>
          <a:xfrm>
            <a:off x="6180310" y="3764307"/>
            <a:ext cx="4474718" cy="2237359"/>
          </a:xfrm>
          <a:prstGeom prst="rect">
            <a:avLst/>
          </a:prstGeom>
        </p:spPr>
      </p:pic>
    </p:spTree>
    <p:extLst>
      <p:ext uri="{BB962C8B-B14F-4D97-AF65-F5344CB8AC3E}">
        <p14:creationId xmlns:p14="http://schemas.microsoft.com/office/powerpoint/2010/main" val="380266804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E2D538-CA28-4CD3-B1A2-1C7130FF8637}"/>
              </a:ext>
            </a:extLst>
          </p:cNvPr>
          <p:cNvSpPr/>
          <p:nvPr/>
        </p:nvSpPr>
        <p:spPr>
          <a:xfrm>
            <a:off x="516255" y="473710"/>
            <a:ext cx="402590" cy="4025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sp>
        <p:nvSpPr>
          <p:cNvPr id="3" name="文本框 5">
            <a:extLst>
              <a:ext uri="{FF2B5EF4-FFF2-40B4-BE49-F238E27FC236}">
                <a16:creationId xmlns:a16="http://schemas.microsoft.com/office/drawing/2014/main" id="{9E4E1293-80B6-4044-9F36-92DD5A43CF0F}"/>
              </a:ext>
            </a:extLst>
          </p:cNvPr>
          <p:cNvSpPr txBox="1"/>
          <p:nvPr/>
        </p:nvSpPr>
        <p:spPr>
          <a:xfrm>
            <a:off x="992987" y="414020"/>
            <a:ext cx="1866945" cy="523220"/>
          </a:xfrm>
          <a:prstGeom prst="rect">
            <a:avLst/>
          </a:prstGeom>
          <a:noFill/>
        </p:spPr>
        <p:txBody>
          <a:bodyPr wrap="square" rtlCol="0">
            <a:spAutoFit/>
          </a:bodyPr>
          <a:lstStyle/>
          <a:p>
            <a:pPr lvl="0"/>
            <a:r>
              <a:rPr lang="zh-TW" altLang="en-US" sz="2800" b="1" kern="0" dirty="0">
                <a:solidFill>
                  <a:srgbClr val="595959"/>
                </a:solidFill>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rPr>
              <a:t>目前進度</a:t>
            </a:r>
            <a:endParaRPr kumimoji="0" lang="zh-CN" altLang="en-US" sz="2800" b="1" i="0" u="none" strike="noStrike" kern="0" cap="none" spc="0" normalizeH="0" baseline="0" noProof="0" dirty="0">
              <a:ln>
                <a:noFill/>
              </a:ln>
              <a:solidFill>
                <a:srgbClr val="595959"/>
              </a:solidFill>
              <a:effectLst/>
              <a:uLnTx/>
              <a:uFillTx/>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grpSp>
        <p:nvGrpSpPr>
          <p:cNvPr id="10" name="群組 9">
            <a:extLst>
              <a:ext uri="{FF2B5EF4-FFF2-40B4-BE49-F238E27FC236}">
                <a16:creationId xmlns:a16="http://schemas.microsoft.com/office/drawing/2014/main" id="{89DD2D3F-1FCE-423E-8BDF-1B4D5F51692A}"/>
              </a:ext>
            </a:extLst>
          </p:cNvPr>
          <p:cNvGrpSpPr/>
          <p:nvPr/>
        </p:nvGrpSpPr>
        <p:grpSpPr>
          <a:xfrm>
            <a:off x="1080973" y="1506454"/>
            <a:ext cx="4755622" cy="369332"/>
            <a:chOff x="918845" y="1428632"/>
            <a:chExt cx="4755622" cy="369332"/>
          </a:xfrm>
        </p:grpSpPr>
        <p:sp>
          <p:nvSpPr>
            <p:cNvPr id="8" name="文字方塊 7">
              <a:extLst>
                <a:ext uri="{FF2B5EF4-FFF2-40B4-BE49-F238E27FC236}">
                  <a16:creationId xmlns:a16="http://schemas.microsoft.com/office/drawing/2014/main" id="{36F49304-06EF-496B-8AB7-6FE5233069DB}"/>
                </a:ext>
              </a:extLst>
            </p:cNvPr>
            <p:cNvSpPr txBox="1"/>
            <p:nvPr/>
          </p:nvSpPr>
          <p:spPr>
            <a:xfrm>
              <a:off x="1151489" y="1428632"/>
              <a:ext cx="4522978" cy="369332"/>
            </a:xfrm>
            <a:prstGeom prst="rect">
              <a:avLst/>
            </a:prstGeom>
            <a:noFill/>
          </p:spPr>
          <p:txBody>
            <a:bodyPr wrap="square" rtlCol="0">
              <a:spAutoFit/>
            </a:bodyPr>
            <a:lstStyle/>
            <a:p>
              <a:r>
                <a:rPr lang="zh-TW" altLang="en-US" dirty="0"/>
                <a:t> </a:t>
              </a:r>
              <a:r>
                <a:rPr lang="en-US" altLang="zh-TW" dirty="0"/>
                <a:t>SSFB</a:t>
              </a:r>
              <a:r>
                <a:rPr lang="zh-TW" altLang="en-US" dirty="0"/>
                <a:t>通道權重</a:t>
              </a:r>
            </a:p>
          </p:txBody>
        </p:sp>
        <p:pic>
          <p:nvPicPr>
            <p:cNvPr id="9" name="圖片 8">
              <a:extLst>
                <a:ext uri="{FF2B5EF4-FFF2-40B4-BE49-F238E27FC236}">
                  <a16:creationId xmlns:a16="http://schemas.microsoft.com/office/drawing/2014/main" id="{42C83D66-3640-4D3D-844E-782F45F5489E}"/>
                </a:ext>
              </a:extLst>
            </p:cNvPr>
            <p:cNvPicPr>
              <a:picLocks noChangeAspect="1"/>
            </p:cNvPicPr>
            <p:nvPr/>
          </p:nvPicPr>
          <p:blipFill>
            <a:blip r:embed="rId2"/>
            <a:stretch>
              <a:fillRect/>
            </a:stretch>
          </p:blipFill>
          <p:spPr>
            <a:xfrm flipV="1">
              <a:off x="918845" y="1487013"/>
              <a:ext cx="252569" cy="252569"/>
            </a:xfrm>
            <a:prstGeom prst="rect">
              <a:avLst/>
            </a:prstGeom>
          </p:spPr>
        </p:pic>
      </p:grpSp>
      <p:grpSp>
        <p:nvGrpSpPr>
          <p:cNvPr id="12" name="群組 11">
            <a:extLst>
              <a:ext uri="{FF2B5EF4-FFF2-40B4-BE49-F238E27FC236}">
                <a16:creationId xmlns:a16="http://schemas.microsoft.com/office/drawing/2014/main" id="{6A69229E-B3B7-4D7E-BC93-079FADE950F6}"/>
              </a:ext>
            </a:extLst>
          </p:cNvPr>
          <p:cNvGrpSpPr/>
          <p:nvPr/>
        </p:nvGrpSpPr>
        <p:grpSpPr>
          <a:xfrm>
            <a:off x="1080973" y="1934167"/>
            <a:ext cx="4755622" cy="369332"/>
            <a:chOff x="918845" y="1428632"/>
            <a:chExt cx="4755622" cy="369332"/>
          </a:xfrm>
        </p:grpSpPr>
        <p:sp>
          <p:nvSpPr>
            <p:cNvPr id="13" name="文字方塊 12">
              <a:extLst>
                <a:ext uri="{FF2B5EF4-FFF2-40B4-BE49-F238E27FC236}">
                  <a16:creationId xmlns:a16="http://schemas.microsoft.com/office/drawing/2014/main" id="{A9891E86-901B-4F7C-9400-43647554A99E}"/>
                </a:ext>
              </a:extLst>
            </p:cNvPr>
            <p:cNvSpPr txBox="1"/>
            <p:nvPr/>
          </p:nvSpPr>
          <p:spPr>
            <a:xfrm>
              <a:off x="1151489" y="1428632"/>
              <a:ext cx="4522978" cy="369332"/>
            </a:xfrm>
            <a:prstGeom prst="rect">
              <a:avLst/>
            </a:prstGeom>
            <a:noFill/>
          </p:spPr>
          <p:txBody>
            <a:bodyPr wrap="square" rtlCol="0">
              <a:spAutoFit/>
            </a:bodyPr>
            <a:lstStyle/>
            <a:p>
              <a:r>
                <a:rPr lang="zh-TW" altLang="en-US" dirty="0"/>
                <a:t> </a:t>
              </a:r>
              <a:r>
                <a:rPr lang="en-US" altLang="zh-TW" dirty="0"/>
                <a:t>hybrid Fourier – spatial Upsampling block</a:t>
              </a:r>
              <a:endParaRPr lang="zh-TW" altLang="en-US" dirty="0"/>
            </a:p>
          </p:txBody>
        </p:sp>
        <p:pic>
          <p:nvPicPr>
            <p:cNvPr id="14" name="圖片 13">
              <a:extLst>
                <a:ext uri="{FF2B5EF4-FFF2-40B4-BE49-F238E27FC236}">
                  <a16:creationId xmlns:a16="http://schemas.microsoft.com/office/drawing/2014/main" id="{51A53AFB-259E-4C1B-913B-D1860332B534}"/>
                </a:ext>
              </a:extLst>
            </p:cNvPr>
            <p:cNvPicPr>
              <a:picLocks noChangeAspect="1"/>
            </p:cNvPicPr>
            <p:nvPr/>
          </p:nvPicPr>
          <p:blipFill>
            <a:blip r:embed="rId2"/>
            <a:stretch>
              <a:fillRect/>
            </a:stretch>
          </p:blipFill>
          <p:spPr>
            <a:xfrm flipV="1">
              <a:off x="918845" y="1487013"/>
              <a:ext cx="252569" cy="252569"/>
            </a:xfrm>
            <a:prstGeom prst="rect">
              <a:avLst/>
            </a:prstGeom>
          </p:spPr>
        </p:pic>
      </p:grpSp>
      <p:grpSp>
        <p:nvGrpSpPr>
          <p:cNvPr id="15" name="群組 14">
            <a:extLst>
              <a:ext uri="{FF2B5EF4-FFF2-40B4-BE49-F238E27FC236}">
                <a16:creationId xmlns:a16="http://schemas.microsoft.com/office/drawing/2014/main" id="{7E3CC967-F4FA-44DD-87A5-FACDEF8271DB}"/>
              </a:ext>
            </a:extLst>
          </p:cNvPr>
          <p:cNvGrpSpPr/>
          <p:nvPr/>
        </p:nvGrpSpPr>
        <p:grpSpPr>
          <a:xfrm>
            <a:off x="1080973" y="2361879"/>
            <a:ext cx="4755622" cy="369332"/>
            <a:chOff x="918845" y="1428632"/>
            <a:chExt cx="4755622" cy="369332"/>
          </a:xfrm>
        </p:grpSpPr>
        <p:sp>
          <p:nvSpPr>
            <p:cNvPr id="16" name="文字方塊 15">
              <a:extLst>
                <a:ext uri="{FF2B5EF4-FFF2-40B4-BE49-F238E27FC236}">
                  <a16:creationId xmlns:a16="http://schemas.microsoft.com/office/drawing/2014/main" id="{189FFDA6-5EE5-4D5D-9CA6-941135044379}"/>
                </a:ext>
              </a:extLst>
            </p:cNvPr>
            <p:cNvSpPr txBox="1"/>
            <p:nvPr/>
          </p:nvSpPr>
          <p:spPr>
            <a:xfrm>
              <a:off x="1151489" y="1428632"/>
              <a:ext cx="4522978" cy="369332"/>
            </a:xfrm>
            <a:prstGeom prst="rect">
              <a:avLst/>
            </a:prstGeom>
            <a:noFill/>
          </p:spPr>
          <p:txBody>
            <a:bodyPr wrap="square" rtlCol="0">
              <a:spAutoFit/>
            </a:bodyPr>
            <a:lstStyle/>
            <a:p>
              <a:r>
                <a:rPr lang="zh-TW" altLang="en-US" dirty="0"/>
                <a:t> </a:t>
              </a:r>
              <a:r>
                <a:rPr lang="en-US" altLang="zh-TW" dirty="0"/>
                <a:t>MQCA – Frequency</a:t>
              </a:r>
              <a:endParaRPr lang="zh-TW" altLang="en-US" dirty="0"/>
            </a:p>
          </p:txBody>
        </p:sp>
        <p:pic>
          <p:nvPicPr>
            <p:cNvPr id="17" name="圖片 16">
              <a:extLst>
                <a:ext uri="{FF2B5EF4-FFF2-40B4-BE49-F238E27FC236}">
                  <a16:creationId xmlns:a16="http://schemas.microsoft.com/office/drawing/2014/main" id="{034AC4A8-C41E-4386-9B49-05EB5C57C714}"/>
                </a:ext>
              </a:extLst>
            </p:cNvPr>
            <p:cNvPicPr>
              <a:picLocks noChangeAspect="1"/>
            </p:cNvPicPr>
            <p:nvPr/>
          </p:nvPicPr>
          <p:blipFill>
            <a:blip r:embed="rId2"/>
            <a:stretch>
              <a:fillRect/>
            </a:stretch>
          </p:blipFill>
          <p:spPr>
            <a:xfrm flipV="1">
              <a:off x="918845" y="1487013"/>
              <a:ext cx="252569" cy="252569"/>
            </a:xfrm>
            <a:prstGeom prst="rect">
              <a:avLst/>
            </a:prstGeom>
          </p:spPr>
        </p:pic>
      </p:grpSp>
    </p:spTree>
    <p:extLst>
      <p:ext uri="{BB962C8B-B14F-4D97-AF65-F5344CB8AC3E}">
        <p14:creationId xmlns:p14="http://schemas.microsoft.com/office/powerpoint/2010/main" val="278003852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E2D538-CA28-4CD3-B1A2-1C7130FF8637}"/>
              </a:ext>
            </a:extLst>
          </p:cNvPr>
          <p:cNvSpPr/>
          <p:nvPr/>
        </p:nvSpPr>
        <p:spPr>
          <a:xfrm>
            <a:off x="516255" y="473710"/>
            <a:ext cx="402590" cy="4025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sp>
        <p:nvSpPr>
          <p:cNvPr id="3" name="文本框 5">
            <a:extLst>
              <a:ext uri="{FF2B5EF4-FFF2-40B4-BE49-F238E27FC236}">
                <a16:creationId xmlns:a16="http://schemas.microsoft.com/office/drawing/2014/main" id="{9E4E1293-80B6-4044-9F36-92DD5A43CF0F}"/>
              </a:ext>
            </a:extLst>
          </p:cNvPr>
          <p:cNvSpPr txBox="1"/>
          <p:nvPr/>
        </p:nvSpPr>
        <p:spPr>
          <a:xfrm>
            <a:off x="992987" y="414020"/>
            <a:ext cx="1866945" cy="523220"/>
          </a:xfrm>
          <a:prstGeom prst="rect">
            <a:avLst/>
          </a:prstGeom>
          <a:noFill/>
        </p:spPr>
        <p:txBody>
          <a:bodyPr wrap="square" rtlCol="0">
            <a:spAutoFit/>
          </a:bodyPr>
          <a:lstStyle/>
          <a:p>
            <a:pPr lvl="0"/>
            <a:r>
              <a:rPr lang="zh-TW" altLang="en-US" sz="2800" b="1" kern="0" dirty="0">
                <a:solidFill>
                  <a:srgbClr val="595959"/>
                </a:solidFill>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rPr>
              <a:t>目前進度</a:t>
            </a:r>
            <a:endParaRPr kumimoji="0" lang="zh-CN" altLang="en-US" sz="2800" b="1" i="0" u="none" strike="noStrike" kern="0" cap="none" spc="0" normalizeH="0" baseline="0" noProof="0" dirty="0">
              <a:ln>
                <a:noFill/>
              </a:ln>
              <a:solidFill>
                <a:srgbClr val="595959"/>
              </a:solidFill>
              <a:effectLst/>
              <a:uLnTx/>
              <a:uFillTx/>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sp>
        <p:nvSpPr>
          <p:cNvPr id="10" name="文字方塊 9">
            <a:extLst>
              <a:ext uri="{FF2B5EF4-FFF2-40B4-BE49-F238E27FC236}">
                <a16:creationId xmlns:a16="http://schemas.microsoft.com/office/drawing/2014/main" id="{58197985-2D8B-4A42-9368-F770BA5CA91B}"/>
              </a:ext>
            </a:extLst>
          </p:cNvPr>
          <p:cNvSpPr txBox="1"/>
          <p:nvPr/>
        </p:nvSpPr>
        <p:spPr>
          <a:xfrm>
            <a:off x="1084946" y="1550503"/>
            <a:ext cx="1683026" cy="369332"/>
          </a:xfrm>
          <a:prstGeom prst="rect">
            <a:avLst/>
          </a:prstGeom>
          <a:noFill/>
        </p:spPr>
        <p:txBody>
          <a:bodyPr wrap="square" rtlCol="0">
            <a:spAutoFit/>
          </a:bodyPr>
          <a:lstStyle/>
          <a:p>
            <a:r>
              <a:rPr lang="en-US" altLang="zh-TW" dirty="0"/>
              <a:t>Batch size : 4</a:t>
            </a:r>
            <a:endParaRPr lang="zh-TW" altLang="en-US" dirty="0"/>
          </a:p>
        </p:txBody>
      </p:sp>
      <p:sp>
        <p:nvSpPr>
          <p:cNvPr id="11" name="文字方塊 10">
            <a:extLst>
              <a:ext uri="{FF2B5EF4-FFF2-40B4-BE49-F238E27FC236}">
                <a16:creationId xmlns:a16="http://schemas.microsoft.com/office/drawing/2014/main" id="{C7D0BCA3-1A6E-461E-A59E-CE523E674103}"/>
              </a:ext>
            </a:extLst>
          </p:cNvPr>
          <p:cNvSpPr txBox="1"/>
          <p:nvPr/>
        </p:nvSpPr>
        <p:spPr>
          <a:xfrm>
            <a:off x="3006976" y="1550503"/>
            <a:ext cx="1683026" cy="369332"/>
          </a:xfrm>
          <a:prstGeom prst="rect">
            <a:avLst/>
          </a:prstGeom>
          <a:noFill/>
        </p:spPr>
        <p:txBody>
          <a:bodyPr wrap="square" rtlCol="0">
            <a:spAutoFit/>
          </a:bodyPr>
          <a:lstStyle/>
          <a:p>
            <a:r>
              <a:rPr lang="en-US" altLang="zh-TW" dirty="0"/>
              <a:t>Epoch :</a:t>
            </a:r>
            <a:r>
              <a:rPr lang="zh-TW" altLang="en-US" dirty="0"/>
              <a:t> </a:t>
            </a:r>
            <a:r>
              <a:rPr lang="en-US" altLang="zh-TW" dirty="0"/>
              <a:t>533</a:t>
            </a:r>
            <a:endParaRPr lang="zh-TW" altLang="en-US" dirty="0"/>
          </a:p>
        </p:txBody>
      </p:sp>
      <p:sp>
        <p:nvSpPr>
          <p:cNvPr id="12" name="文字方塊 11">
            <a:extLst>
              <a:ext uri="{FF2B5EF4-FFF2-40B4-BE49-F238E27FC236}">
                <a16:creationId xmlns:a16="http://schemas.microsoft.com/office/drawing/2014/main" id="{79C69F79-3F70-4222-86ED-0C9E8799D746}"/>
              </a:ext>
            </a:extLst>
          </p:cNvPr>
          <p:cNvSpPr txBox="1"/>
          <p:nvPr/>
        </p:nvSpPr>
        <p:spPr>
          <a:xfrm>
            <a:off x="1084946" y="2587896"/>
            <a:ext cx="1683026" cy="369332"/>
          </a:xfrm>
          <a:prstGeom prst="rect">
            <a:avLst/>
          </a:prstGeom>
          <a:noFill/>
        </p:spPr>
        <p:txBody>
          <a:bodyPr wrap="square" rtlCol="0">
            <a:spAutoFit/>
          </a:bodyPr>
          <a:lstStyle/>
          <a:p>
            <a:r>
              <a:rPr lang="en-US" altLang="zh-TW" dirty="0"/>
              <a:t>PSNR : 29.75</a:t>
            </a:r>
            <a:endParaRPr lang="zh-TW" altLang="en-US" dirty="0"/>
          </a:p>
        </p:txBody>
      </p:sp>
      <p:sp>
        <p:nvSpPr>
          <p:cNvPr id="13" name="文字方塊 12">
            <a:extLst>
              <a:ext uri="{FF2B5EF4-FFF2-40B4-BE49-F238E27FC236}">
                <a16:creationId xmlns:a16="http://schemas.microsoft.com/office/drawing/2014/main" id="{63291B98-F9B6-48FC-A441-6AC70493F1BF}"/>
              </a:ext>
            </a:extLst>
          </p:cNvPr>
          <p:cNvSpPr txBox="1"/>
          <p:nvPr/>
        </p:nvSpPr>
        <p:spPr>
          <a:xfrm>
            <a:off x="3006976" y="2597553"/>
            <a:ext cx="1683026" cy="369332"/>
          </a:xfrm>
          <a:prstGeom prst="rect">
            <a:avLst/>
          </a:prstGeom>
          <a:noFill/>
        </p:spPr>
        <p:txBody>
          <a:bodyPr wrap="square" rtlCol="0">
            <a:spAutoFit/>
          </a:bodyPr>
          <a:lstStyle/>
          <a:p>
            <a:r>
              <a:rPr lang="en-US" altLang="zh-TW" dirty="0"/>
              <a:t>SSIM : 0.9207</a:t>
            </a:r>
            <a:endParaRPr lang="zh-TW" altLang="en-US" dirty="0"/>
          </a:p>
        </p:txBody>
      </p:sp>
      <p:pic>
        <p:nvPicPr>
          <p:cNvPr id="4" name="圖片 3">
            <a:extLst>
              <a:ext uri="{FF2B5EF4-FFF2-40B4-BE49-F238E27FC236}">
                <a16:creationId xmlns:a16="http://schemas.microsoft.com/office/drawing/2014/main" id="{B7B5AFA3-55B3-45DC-81CF-29DDB7CB34FF}"/>
              </a:ext>
            </a:extLst>
          </p:cNvPr>
          <p:cNvPicPr>
            <a:picLocks noChangeAspect="1"/>
          </p:cNvPicPr>
          <p:nvPr/>
        </p:nvPicPr>
        <p:blipFill>
          <a:blip r:embed="rId2"/>
          <a:stretch>
            <a:fillRect/>
          </a:stretch>
        </p:blipFill>
        <p:spPr>
          <a:xfrm>
            <a:off x="3789611" y="3159453"/>
            <a:ext cx="7582958" cy="3029373"/>
          </a:xfrm>
          <a:prstGeom prst="rect">
            <a:avLst/>
          </a:prstGeom>
        </p:spPr>
      </p:pic>
    </p:spTree>
    <p:extLst>
      <p:ext uri="{BB962C8B-B14F-4D97-AF65-F5344CB8AC3E}">
        <p14:creationId xmlns:p14="http://schemas.microsoft.com/office/powerpoint/2010/main" val="278021187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E2D538-CA28-4CD3-B1A2-1C7130FF8637}"/>
              </a:ext>
            </a:extLst>
          </p:cNvPr>
          <p:cNvSpPr/>
          <p:nvPr/>
        </p:nvSpPr>
        <p:spPr>
          <a:xfrm>
            <a:off x="516255" y="473710"/>
            <a:ext cx="402590" cy="4025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sp>
        <p:nvSpPr>
          <p:cNvPr id="3" name="文本框 5">
            <a:extLst>
              <a:ext uri="{FF2B5EF4-FFF2-40B4-BE49-F238E27FC236}">
                <a16:creationId xmlns:a16="http://schemas.microsoft.com/office/drawing/2014/main" id="{9E4E1293-80B6-4044-9F36-92DD5A43CF0F}"/>
              </a:ext>
            </a:extLst>
          </p:cNvPr>
          <p:cNvSpPr txBox="1"/>
          <p:nvPr/>
        </p:nvSpPr>
        <p:spPr>
          <a:xfrm>
            <a:off x="992987" y="414020"/>
            <a:ext cx="1866945" cy="523220"/>
          </a:xfrm>
          <a:prstGeom prst="rect">
            <a:avLst/>
          </a:prstGeom>
          <a:noFill/>
        </p:spPr>
        <p:txBody>
          <a:bodyPr wrap="square" rtlCol="0">
            <a:spAutoFit/>
          </a:bodyPr>
          <a:lstStyle/>
          <a:p>
            <a:pPr lvl="0"/>
            <a:r>
              <a:rPr lang="zh-TW" altLang="en-US" sz="2800" b="1" kern="0" dirty="0">
                <a:solidFill>
                  <a:srgbClr val="595959"/>
                </a:solidFill>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rPr>
              <a:t>目前進度</a:t>
            </a:r>
            <a:endParaRPr kumimoji="0" lang="zh-CN" altLang="en-US" sz="2800" b="1" i="0" u="none" strike="noStrike" kern="0" cap="none" spc="0" normalizeH="0" baseline="0" noProof="0" dirty="0">
              <a:ln>
                <a:noFill/>
              </a:ln>
              <a:solidFill>
                <a:srgbClr val="595959"/>
              </a:solidFill>
              <a:effectLst/>
              <a:uLnTx/>
              <a:uFillTx/>
              <a:latin typeface="Montserrat SemiBold" panose="00000700000000000000" charset="0"/>
              <a:ea typeface="字魂59号-创粗黑" panose="00000500000000000000" pitchFamily="2" charset="-122"/>
              <a:cs typeface="Montserrat SemiBold" panose="00000700000000000000" charset="0"/>
              <a:sym typeface="字魂59号-创粗黑" panose="00000500000000000000" pitchFamily="2" charset="-122"/>
            </a:endParaRPr>
          </a:p>
        </p:txBody>
      </p:sp>
      <p:pic>
        <p:nvPicPr>
          <p:cNvPr id="4" name="圖片 3">
            <a:extLst>
              <a:ext uri="{FF2B5EF4-FFF2-40B4-BE49-F238E27FC236}">
                <a16:creationId xmlns:a16="http://schemas.microsoft.com/office/drawing/2014/main" id="{5E791421-47C5-4C3E-BDE6-382168E4974F}"/>
              </a:ext>
            </a:extLst>
          </p:cNvPr>
          <p:cNvPicPr>
            <a:picLocks noChangeAspect="1"/>
          </p:cNvPicPr>
          <p:nvPr/>
        </p:nvPicPr>
        <p:blipFill>
          <a:blip r:embed="rId2"/>
          <a:stretch>
            <a:fillRect/>
          </a:stretch>
        </p:blipFill>
        <p:spPr>
          <a:xfrm>
            <a:off x="992987" y="1405646"/>
            <a:ext cx="4876800" cy="2438400"/>
          </a:xfrm>
          <a:prstGeom prst="rect">
            <a:avLst/>
          </a:prstGeom>
        </p:spPr>
      </p:pic>
      <p:pic>
        <p:nvPicPr>
          <p:cNvPr id="5" name="圖片 4">
            <a:extLst>
              <a:ext uri="{FF2B5EF4-FFF2-40B4-BE49-F238E27FC236}">
                <a16:creationId xmlns:a16="http://schemas.microsoft.com/office/drawing/2014/main" id="{E1034E07-2DE6-4466-9860-C60A6CFBA62D}"/>
              </a:ext>
            </a:extLst>
          </p:cNvPr>
          <p:cNvPicPr>
            <a:picLocks noChangeAspect="1"/>
          </p:cNvPicPr>
          <p:nvPr/>
        </p:nvPicPr>
        <p:blipFill>
          <a:blip r:embed="rId3"/>
          <a:stretch>
            <a:fillRect/>
          </a:stretch>
        </p:blipFill>
        <p:spPr>
          <a:xfrm>
            <a:off x="6173821" y="1405646"/>
            <a:ext cx="4876800" cy="2438400"/>
          </a:xfrm>
          <a:prstGeom prst="rect">
            <a:avLst/>
          </a:prstGeom>
        </p:spPr>
      </p:pic>
      <p:pic>
        <p:nvPicPr>
          <p:cNvPr id="6" name="圖片 5">
            <a:extLst>
              <a:ext uri="{FF2B5EF4-FFF2-40B4-BE49-F238E27FC236}">
                <a16:creationId xmlns:a16="http://schemas.microsoft.com/office/drawing/2014/main" id="{8B68181A-1A1C-43BA-8DEF-3DDAAEFE3E59}"/>
              </a:ext>
            </a:extLst>
          </p:cNvPr>
          <p:cNvPicPr>
            <a:picLocks noChangeAspect="1"/>
          </p:cNvPicPr>
          <p:nvPr/>
        </p:nvPicPr>
        <p:blipFill>
          <a:blip r:embed="rId4"/>
          <a:stretch>
            <a:fillRect/>
          </a:stretch>
        </p:blipFill>
        <p:spPr>
          <a:xfrm>
            <a:off x="992987" y="4005580"/>
            <a:ext cx="4876800" cy="2438400"/>
          </a:xfrm>
          <a:prstGeom prst="rect">
            <a:avLst/>
          </a:prstGeom>
        </p:spPr>
      </p:pic>
      <p:pic>
        <p:nvPicPr>
          <p:cNvPr id="7" name="圖片 6">
            <a:extLst>
              <a:ext uri="{FF2B5EF4-FFF2-40B4-BE49-F238E27FC236}">
                <a16:creationId xmlns:a16="http://schemas.microsoft.com/office/drawing/2014/main" id="{4DA48FC6-4773-404D-BF6D-4AB3CD19E9D5}"/>
              </a:ext>
            </a:extLst>
          </p:cNvPr>
          <p:cNvPicPr>
            <a:picLocks noChangeAspect="1"/>
          </p:cNvPicPr>
          <p:nvPr/>
        </p:nvPicPr>
        <p:blipFill>
          <a:blip r:embed="rId5"/>
          <a:stretch>
            <a:fillRect/>
          </a:stretch>
        </p:blipFill>
        <p:spPr>
          <a:xfrm>
            <a:off x="6173821" y="3947808"/>
            <a:ext cx="4876800" cy="2438400"/>
          </a:xfrm>
          <a:prstGeom prst="rect">
            <a:avLst/>
          </a:prstGeom>
        </p:spPr>
      </p:pic>
    </p:spTree>
    <p:extLst>
      <p:ext uri="{BB962C8B-B14F-4D97-AF65-F5344CB8AC3E}">
        <p14:creationId xmlns:p14="http://schemas.microsoft.com/office/powerpoint/2010/main" val="95790279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19"/>
</p:tagLst>
</file>

<file path=ppt/theme/theme1.xml><?xml version="1.0" encoding="utf-8"?>
<a:theme xmlns:a="http://schemas.openxmlformats.org/drawingml/2006/main" name="1">
  <a:themeElements>
    <a:clrScheme name="自定义 278">
      <a:dk1>
        <a:srgbClr val="000000"/>
      </a:dk1>
      <a:lt1>
        <a:srgbClr val="FFFFFF"/>
      </a:lt1>
      <a:dk2>
        <a:srgbClr val="778495"/>
      </a:dk2>
      <a:lt2>
        <a:srgbClr val="F0F0F0"/>
      </a:lt2>
      <a:accent1>
        <a:srgbClr val="595959"/>
      </a:accent1>
      <a:accent2>
        <a:srgbClr val="595959"/>
      </a:accent2>
      <a:accent3>
        <a:srgbClr val="595959"/>
      </a:accent3>
      <a:accent4>
        <a:srgbClr val="595959"/>
      </a:accent4>
      <a:accent5>
        <a:srgbClr val="595959"/>
      </a:accent5>
      <a:accent6>
        <a:srgbClr val="595959"/>
      </a:accent6>
      <a:hlink>
        <a:srgbClr val="595959"/>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包图主题2</Template>
  <TotalTime>2251</TotalTime>
  <Words>194</Words>
  <Application>Microsoft Office PowerPoint</Application>
  <PresentationFormat>寬螢幕</PresentationFormat>
  <Paragraphs>34</Paragraphs>
  <Slides>9</Slides>
  <Notes>4</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9</vt:i4>
      </vt:variant>
    </vt:vector>
  </HeadingPairs>
  <TitlesOfParts>
    <vt:vector size="14" baseType="lpstr">
      <vt:lpstr>??</vt:lpstr>
      <vt:lpstr>等线</vt:lpstr>
      <vt:lpstr>Arial</vt:lpstr>
      <vt:lpstr>Montserrat SemiBold</vt:lpstr>
      <vt:lpstr>1</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19</dc:title>
  <dc:creator/>
  <cp:lastModifiedBy>良育 戴</cp:lastModifiedBy>
  <cp:revision>130</cp:revision>
  <dcterms:created xsi:type="dcterms:W3CDTF">2017-08-18T03:02:00Z</dcterms:created>
  <dcterms:modified xsi:type="dcterms:W3CDTF">2025-09-29T08:29:18Z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y fmtid="{D5CDD505-2E9C-101B-9397-08002B2CF9AE}" pid="3" name="ICV">
    <vt:lpwstr>3E3F75A3C6D04A0EA0F766AE01E49EFF</vt:lpwstr>
  </property>
</Properties>
</file>